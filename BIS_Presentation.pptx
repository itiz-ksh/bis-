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Hit@3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  <c:pt idx="8">
                    <c:v>Q9</c:v>
                  </c:pt>
                  <c:pt idx="9">
                    <c:v>Q10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2011680" cy="347472"/>
          </a:xfrm>
          <a:prstGeom prst="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MSEs Spend Weeks Finding the Right BIS Standard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A compliance bottleneck costing time, money, and market access.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164592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63M+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363931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MSEs in India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2880360"/>
            <a:ext cx="164592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3–6 Wks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31720" y="363931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Avg. compliance research 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2880360"/>
            <a:ext cx="164592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052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1000+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160520" y="363931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BIS Building Materials standards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86016" y="1243584"/>
            <a:ext cx="2011680" cy="2651760"/>
          </a:xfrm>
          <a:prstGeom prst="rect">
            <a:avLst/>
          </a:prstGeom>
          <a:solidFill>
            <a:srgbClr val="162D4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21424" y="1133856"/>
            <a:ext cx="2011680" cy="2651760"/>
          </a:xfrm>
          <a:prstGeom prst="rect">
            <a:avLst/>
          </a:prstGeom>
          <a:solidFill>
            <a:srgbClr val="162D4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56832" y="1024128"/>
            <a:ext cx="2011680" cy="2651760"/>
          </a:xfrm>
          <a:prstGeom prst="rect">
            <a:avLst/>
          </a:prstGeom>
          <a:solidFill>
            <a:srgbClr val="162D4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914400"/>
            <a:ext cx="2011680" cy="265176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37160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SP 21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Building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Materials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Standards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749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1000+ pages of regulations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 easy search. No clear path.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SOLUTION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BIS Standards Recommendation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</a:rPr>
              <a:t>Type a product description. Get the right BIS standard in seconds.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4028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Instant Results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29184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Top 3–5 BIS standards recommended in under 2 seconds.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2402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224028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5176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Hybrid RAG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70048" y="329184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BM25 + TF-IDF + Semantic search fused for maximum accuracy.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4028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5488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Smart Expansion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329184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Resolves domain abbreviations: OPC, TMT, GGBS, Fe500 and more.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22402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224028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58000" y="2926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Zero Hallucination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76288" y="3291840"/>
            <a:ext cx="17007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Only returns standards from the curated BIS SP 21 knowledge base.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Focused on Building Materials — Cement, Steel, Concrete, Aggregates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End-to-End RAG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50876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447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Query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Product description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in natural language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2029968"/>
            <a:ext cx="182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1984248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1371600"/>
            <a:ext cx="1508760" cy="1463040"/>
          </a:xfrm>
          <a:prstGeom prst="rect">
            <a:avLst/>
          </a:prstGeom>
          <a:solidFill>
            <a:srgbClr val="0F3D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40280" y="14447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Query Expansion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18745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Abbreviation resolver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(OPC, TMT, GGBS...)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03320" y="2029968"/>
            <a:ext cx="182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1984248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▶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86200" y="1371600"/>
            <a:ext cx="1508760" cy="1463040"/>
          </a:xfrm>
          <a:prstGeom prst="rect">
            <a:avLst/>
          </a:prstGeom>
          <a:solidFill>
            <a:srgbClr val="0D5249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14447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Retriever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18745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BM25 + TF-IDF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+ Sentence Transformers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94960" y="2029968"/>
            <a:ext cx="182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0408" y="1984248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1371600"/>
            <a:ext cx="1508760" cy="1463040"/>
          </a:xfrm>
          <a:prstGeom prst="rect">
            <a:avLst/>
          </a:prstGeom>
          <a:solidFill>
            <a:srgbClr val="0D6B5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23560" y="14447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Score Fusion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18745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Normalized weighted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combination + category boost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86600" y="2029968"/>
            <a:ext cx="182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1984248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69480" y="1371600"/>
            <a:ext cx="150876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0" y="14447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Top-K Results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18745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Standard ID + Title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+ Rationale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Knowledge Base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3474720"/>
            <a:ext cx="7315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60+ BIS standards from SP 21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3474720"/>
            <a:ext cx="7315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Curated keywords &amp; synonyms per standard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977640"/>
            <a:ext cx="7315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9776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Categories: Cement · Steel · Concrete · Aggregates · Masonry · more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3977640"/>
            <a:ext cx="7315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9776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 external API — fully offline capable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CHUNKING &amp; RETRIEVAL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Document Chunking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280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 ID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463040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463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IS 12269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1280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385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Title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37360" y="1938528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9385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OPC 53 Grade Specification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1280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140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2414016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41401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53 grade, high strength, OPC...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89504"/>
            <a:ext cx="1280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895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7360" y="2889504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88950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64992"/>
            <a:ext cx="1280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649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7360" y="3364992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33649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Short curated summary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914400"/>
            <a:ext cx="36576" cy="3931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Retrieval Layers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00600" y="14630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146304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508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BM25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56048" y="1810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Weight: 40%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0" y="155448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Keyword + bigram exact match. Best for IS codes, grade names.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4688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468880"/>
            <a:ext cx="64008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TF-IDF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56048" y="28163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Weight: 20%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25603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N-gram term frequency. Handles partial phrase matches.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47472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34747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3520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Semantic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56048" y="38221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Weight: 40%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0" y="356616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Sentence Transformers (MiniLM). Natural language queries.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4526280"/>
            <a:ext cx="4023360" cy="3657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5445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💡  Query Expansion: OPC → Ordinary Portland Cement, Fe500 → TMT bars, GGBS → Ground Granulated Blast Furnace Slag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DEMO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Live Query Examples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167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Query →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OPC 53 grade cement for high strength concrete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44752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4447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12269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444752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4447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8112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1444752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4447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269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79222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✦ Abbreviation 'OPC' expanded correctly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402336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2311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Query 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TMT Fe500 bars for concrete reinforcement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359152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3591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1786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97880" y="2359152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3591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432-1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2359152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3591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2062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70662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✦ Grade 'Fe500' matched precisely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108960"/>
            <a:ext cx="402336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1455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Query 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3337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Concrete mix design for M30 grade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273552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2735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10262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7880" y="3273552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32735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456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32320" y="3273552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2735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4926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362102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✦ Multi-standard recommendation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4023360"/>
            <a:ext cx="402336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" y="40599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Query →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4360" y="4251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Sulphate resisting cement for underground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187952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1879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12330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97880" y="4187952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41879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6452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32320" y="4187952"/>
            <a:ext cx="10972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41879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 1489-1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453542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✦ Semantic understanding of use-case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EVALUATION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Automated Metrics — Public Test Set (10 queries)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2286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08760"/>
            <a:ext cx="2286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C55E"/>
                </a:solidFill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100%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Hit Rate @3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44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Target: &gt; 80%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286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508760"/>
            <a:ext cx="2286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C55E"/>
                </a:solidFill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1.00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8328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MRR @5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944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Target: &gt; 0.70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508760"/>
            <a:ext cx="2286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508760"/>
            <a:ext cx="2286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C55E"/>
                </a:solidFill>
              </a:rPr>
              <a:t>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3504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&lt; 0.05s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03504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Avg Latency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2944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Target: &lt; 5 sec</a:t>
            </a:r>
            <a:endParaRPr lang="en-US" sz="10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3566160"/>
          <a:ext cx="822960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Hit@3 per query (10/10 correct)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IMPACT ON MSEs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Transforming Compliance for Small Businesses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84048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BEFORE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3840480" cy="402336"/>
          </a:xfrm>
          <a:prstGeom prst="rect">
            <a:avLst/>
          </a:prstGeom>
          <a:solidFill>
            <a:srgbClr val="0E1F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105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✗  3–6 weeks of manual research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384048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✗  Hire compliance consultants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761488"/>
            <a:ext cx="3840480" cy="402336"/>
          </a:xfrm>
          <a:prstGeom prst="rect">
            <a:avLst/>
          </a:prstGeom>
          <a:solidFill>
            <a:srgbClr val="0E1F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614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✗  Risk of choosing wrong standard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36976"/>
            <a:ext cx="384048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3697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✗  Delayed product launches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12464"/>
            <a:ext cx="3840480" cy="402336"/>
          </a:xfrm>
          <a:prstGeom prst="rect">
            <a:avLst/>
          </a:prstGeom>
          <a:solidFill>
            <a:srgbClr val="0E1F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1246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✗  Missed export opportunities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325880"/>
            <a:ext cx="384048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325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AFTER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810512"/>
            <a:ext cx="3840480" cy="402336"/>
          </a:xfrm>
          <a:prstGeom prst="rect">
            <a:avLst/>
          </a:prstGeom>
          <a:solidFill>
            <a:srgbClr val="0E1F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105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</a:rPr>
              <a:t>✓  Top standards in &lt; 2 seconds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286000"/>
            <a:ext cx="384048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860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</a:rPr>
              <a:t>✓  Self-service — no expert needed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761488"/>
            <a:ext cx="3840480" cy="402336"/>
          </a:xfrm>
          <a:prstGeom prst="rect">
            <a:avLst/>
          </a:prstGeom>
          <a:solidFill>
            <a:srgbClr val="0E1F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614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</a:rPr>
              <a:t>✓  AI-validated from BIS SP 21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236976"/>
            <a:ext cx="384048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3697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</a:rPr>
              <a:t>✓  Faster time to market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712464"/>
            <a:ext cx="3840480" cy="402336"/>
          </a:xfrm>
          <a:prstGeom prst="rect">
            <a:avLst/>
          </a:prstGeom>
          <a:solidFill>
            <a:srgbClr val="0E1F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71246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</a:rPr>
              <a:t>✓  Level playing field with large firms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Estimated time saving: 3–6 weeks → 2 seconds per product category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</a:rPr>
              <a:t>TEAM &amp; ACKNOWLEDGEMENTS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BIS × SS Hackathon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50876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Member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RAG Pipeline &amp; Retrieval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192024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50876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Member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6517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Data Ingestion &amp; Chunking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192024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150876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9160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Member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6517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Evaluation &amp; Testing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417320"/>
            <a:ext cx="1920240" cy="13716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150876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Member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26517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UI / Presentation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999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Built With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337560"/>
            <a:ext cx="1463040" cy="347472"/>
          </a:xfrm>
          <a:prstGeom prst="rect">
            <a:avLst/>
          </a:prstGeom>
          <a:solidFill>
            <a:srgbClr val="0F3D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Python 3.13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76272" y="3337560"/>
            <a:ext cx="1463040" cy="347472"/>
          </a:xfrm>
          <a:prstGeom prst="rect">
            <a:avLst/>
          </a:prstGeom>
          <a:solidFill>
            <a:srgbClr val="0F3D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76272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scikit-learn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9624" y="3337560"/>
            <a:ext cx="1463040" cy="347472"/>
          </a:xfrm>
          <a:prstGeom prst="rect">
            <a:avLst/>
          </a:prstGeom>
          <a:solidFill>
            <a:srgbClr val="0F3D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9624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BM25 (custom)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22976" y="3337560"/>
            <a:ext cx="1463040" cy="347472"/>
          </a:xfrm>
          <a:prstGeom prst="rect">
            <a:avLst/>
          </a:prstGeom>
          <a:solidFill>
            <a:srgbClr val="0F3D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22976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Sentence-Transformers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96328" y="3337560"/>
            <a:ext cx="1463040" cy="347472"/>
          </a:xfrm>
          <a:prstGeom prst="rect">
            <a:avLst/>
          </a:prstGeom>
          <a:solidFill>
            <a:srgbClr val="0F3D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6328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BIS SP 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82296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We thank the Bureau of Indian Standards and the hackathon organizers for this opportunity to build tools that empower India's MSE sector.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🔗  github.com/itiz-ksh/BIS-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5020056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 Standards Recommendation Engine</dc:title>
  <dc:subject>PptxGenJS Presentation</dc:subject>
  <dc:creator>PptxGenJS</dc:creator>
  <cp:lastModifiedBy>PptxGenJS</cp:lastModifiedBy>
  <cp:revision>1</cp:revision>
  <dcterms:created xsi:type="dcterms:W3CDTF">2026-05-03T17:51:36Z</dcterms:created>
  <dcterms:modified xsi:type="dcterms:W3CDTF">2026-05-03T17:51:36Z</dcterms:modified>
</cp:coreProperties>
</file>